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8517e2c-2e1c-c401-6a46-7c69ba7d51ff}">
          <p14:sldIdLst>
            <p14:sldId id="256"/>
            <p14:sldId id="257"/>
            <p14:sldId id="258"/>
          </p14:sldIdLst>
        </p14:section>
        <p14:section name="Pipeline" id="{9c136fc5-c44a-1777-058a-ca09d5971dba}">
          <p14:sldIdLst>
            <p14:sldId id="259"/>
            <p14:sldId id="260"/>
            <p14:sldId id="261"/>
          </p14:sldIdLst>
        </p14:section>
        <p14:section name="Platform" id="{609074b3-dc03-e0b2-4d3c-53413958c43d}">
          <p14:sldIdLst>
            <p14:sldId id="262"/>
            <p14:sldId id="263"/>
            <p14:sldId id="264"/>
            <p14:sldId id="265"/>
          </p14:sldIdLst>
        </p14:section>
        <p14:section name="Wrap-up" id="{1fc07344-cb23-83c3-49d6-8dc8c47a4366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yourself. IncidentDesk is an incident-management app; the point of the project is the delivery chain around it: Git, CI, security gate, registry, Terraform, Kubernetes, monitoring and troubleshooting.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rows. The screenshot is the real app served through the Ingress during the CI run; the incidents are from the load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groups: the application itself, how it is delivered, the platform it runs on, and how it is observed.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one commit left to right: GitHub Actions tests, scans and builds; images go to GHCR with the commit SHA; Helm deploys into Kubernetes behind an Ingress; Prometheus scrapes /metrics and Grafana shows it. Terraform owns the AWS network and EKS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five jobs. Show the real run in the video: push a commit and open the Actions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measured results, not targets. Each number links to a log file in demo/evidence.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is layered. Trivy runs before the push step, so a vulnerable image never reaches the registry. Explain the clean result in your own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Infrastructure as code: the same files run against real AWS by default. Be clear that the EKS cluster was planned but not created, because there was no AWS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kubectl get pods, svc, ingress and hpa. Point out that the HPA scaled the backend from 2 to 5 pods during the load test. Argo CD deployed the same chart from 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Prometheus answers: is traffic arriving, which endpoint is slow, are errors rising, is the HPA scaling. Show the Grafana dashboard live if you have a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one and narrate it: a Service selects pods by labels; no matching labels means no endpoints means no traffic.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Graders value honesty. Say what was not done and why, and how you would finish it with an AWS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three learnings and say them in your own words, then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5468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IncidentDesk · DevOps Final Capstone · Session 21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IncidentDesk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5468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6"/>
                </a:solidFill>
              </a:rPr>
              <a:t>From one commit to a monitored, autoscaled Kubernetes deployment</a:t>
            </a:r>
            <a:endParaRPr lang="en-US" sz="24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DevOps Final Capstone · Session 21 · github.com/BinaryBhakti/incidentdesk-devops-capstone</a:t>
            </a:r>
            <a:endParaRPr lang="en-US" sz="2400" dirty="0"/>
          </a:p>
        </p:txBody>
      </p:sp>
      <p:sp>
        <p:nvSpPr>
          <p:cNvPr id="4" name="chip 1"/>
          <p:cNvSpPr/>
          <p:nvPr/>
        </p:nvSpPr>
        <p:spPr>
          <a:xfrm>
            <a:off x="731520" y="5120640"/>
            <a:ext cx="3291840" cy="54864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chip 1 text"/>
          <p:cNvSpPr txBox="1"/>
          <p:nvPr/>
        </p:nvSpPr>
        <p:spPr>
          <a:xfrm>
            <a:off x="731520" y="5120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FastAPI · React · PostgreSQL</a:t>
            </a:r>
            <a:endParaRPr lang="en-US" sz="1500" dirty="0"/>
          </a:p>
        </p:txBody>
      </p:sp>
      <p:sp>
        <p:nvSpPr>
          <p:cNvPr id="6" name="chip 2"/>
          <p:cNvSpPr/>
          <p:nvPr/>
        </p:nvSpPr>
        <p:spPr>
          <a:xfrm>
            <a:off x="4297680" y="5120640"/>
            <a:ext cx="3291840" cy="54864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" name="chip 2 text"/>
          <p:cNvSpPr txBox="1"/>
          <p:nvPr/>
        </p:nvSpPr>
        <p:spPr>
          <a:xfrm>
            <a:off x="4297680" y="5120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GitHub Actions · Trivy · GHCR</a:t>
            </a:r>
            <a:endParaRPr lang="en-US" sz="1500" dirty="0"/>
          </a:p>
        </p:txBody>
      </p:sp>
      <p:sp>
        <p:nvSpPr>
          <p:cNvPr id="8" name="chip 3"/>
          <p:cNvSpPr/>
          <p:nvPr/>
        </p:nvSpPr>
        <p:spPr>
          <a:xfrm>
            <a:off x="7863840" y="5120640"/>
            <a:ext cx="3291840" cy="54864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" name="chip 3 text"/>
          <p:cNvSpPr txBox="1"/>
          <p:nvPr/>
        </p:nvSpPr>
        <p:spPr>
          <a:xfrm>
            <a:off x="7863840" y="5120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Terraform · Helm · Prometheus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IncidentDesk does</a:t>
            </a:r>
            <a:endParaRPr lang="en-US" sz="3400" dirty="0"/>
          </a:p>
        </p:txBody>
      </p:sp>
      <p:sp>
        <p:nvSpPr>
          <p:cNvPr id="3" name="step 1 badge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tep 1 badge label"/>
          <p:cNvSpPr txBox="1"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Declare text"/>
          <p:cNvSpPr txBox="1"/>
          <p:nvPr/>
        </p:nvSpPr>
        <p:spPr>
          <a:xfrm>
            <a:off x="1234440" y="134416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Declare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Open an incident with a title, the affected service and a severity from SEV1 to SEV4</a:t>
            </a:r>
            <a:endParaRPr lang="en-US" sz="1800" dirty="0"/>
          </a:p>
        </p:txBody>
      </p:sp>
      <p:sp>
        <p:nvSpPr>
          <p:cNvPr id="6" name="step 2 badge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tep 2 badge label"/>
          <p:cNvSpPr txBox="1"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rack text"/>
          <p:cNvSpPr txBox="1"/>
          <p:nvPr/>
        </p:nvSpPr>
        <p:spPr>
          <a:xfrm>
            <a:off x="1234440" y="253288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Track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Move it OPEN → INVESTIGATING → RESOLVED; resolving stamps the time, reopening clears it</a:t>
            </a:r>
            <a:endParaRPr lang="en-US" sz="1800" dirty="0"/>
          </a:p>
        </p:txBody>
      </p:sp>
      <p:sp>
        <p:nvSpPr>
          <p:cNvPr id="9" name="step 3 badge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 3 badge label"/>
          <p:cNvSpPr txBox="1"/>
          <p:nvPr/>
        </p:nvSpPr>
        <p:spPr>
          <a:xfrm>
            <a:off x="5486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See text"/>
          <p:cNvSpPr txBox="1"/>
          <p:nvPr/>
        </p:nvSpPr>
        <p:spPr>
          <a:xfrm>
            <a:off x="1234440" y="372160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Live KPI cards: SEV1 open, open, investigating, resolved, total</a:t>
            </a:r>
            <a:endParaRPr lang="en-US" sz="1800" dirty="0"/>
          </a:p>
        </p:txBody>
      </p:sp>
      <p:sp>
        <p:nvSpPr>
          <p:cNvPr id="12" name="step 4 badge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tep 4 badge label"/>
          <p:cNvSpPr txBox="1"/>
          <p:nvPr/>
        </p:nvSpPr>
        <p:spPr>
          <a:xfrm>
            <a:off x="54864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Integrate text"/>
          <p:cNvSpPr txBox="1"/>
          <p:nvPr/>
        </p:nvSpPr>
        <p:spPr>
          <a:xfrm>
            <a:off x="1234440" y="491032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Integrate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FastAPI REST API with Swagger at /docs; health, readiness and Prometheus metrics endpoints</a:t>
            </a:r>
            <a:endParaRPr lang="en-US" sz="1800" dirty="0"/>
          </a:p>
        </p:txBody>
      </p:sp>
      <p:sp>
        <p:nvSpPr>
          <p:cNvPr id="15" name="IncidentDesk UI via Ingress frame"/>
          <p:cNvSpPr/>
          <p:nvPr/>
        </p:nvSpPr>
        <p:spPr>
          <a:xfrm>
            <a:off x="5861304" y="1380744"/>
            <a:ext cx="5788152" cy="3648456"/>
          </a:xfrm>
          <a:prstGeom prst="rect">
            <a:avLst/>
          </a:prstGeom>
          <a:solidFill>
            <a:schemeClr val="accent6"/>
          </a:solidFill>
          <a:ln/>
          <a:effectLst>
            <a:outerShdw sx="100000" sy="100000" kx="0" ky="0" algn="bl" rotWithShape="0" blurRad="76200" dist="25400" dir="5400000">
              <a:srgbClr val="101828">
                <a:alpha val="18000"/>
              </a:srgbClr>
            </a:outerShdw>
          </a:effectLst>
        </p:spPr>
      </p:sp>
      <p:pic>
        <p:nvPicPr>
          <p:cNvPr id="16" name="IncidentDesk UI via Ingress" descr="IncidentDesk UI via Ingre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17320"/>
            <a:ext cx="5715000" cy="3575304"/>
          </a:xfrm>
          <a:prstGeom prst="rect">
            <a:avLst/>
          </a:prstGeom>
        </p:spPr>
      </p:pic>
      <p:sp>
        <p:nvSpPr>
          <p:cNvPr id="17" name="caption"/>
          <p:cNvSpPr txBox="1"/>
          <p:nvPr/>
        </p:nvSpPr>
        <p:spPr>
          <a:xfrm>
            <a:off x="5897880" y="5120640"/>
            <a:ext cx="5715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The real UI, captured by headless Chromium through the NGINX Ingress in CI (rows are load-test incidents)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Tech stack</a:t>
            </a:r>
            <a:endParaRPr lang="en-US" sz="3400" dirty="0"/>
          </a:p>
        </p:txBody>
      </p:sp>
      <p:sp>
        <p:nvSpPr>
          <p:cNvPr id="3" name="Application card"/>
          <p:cNvSpPr/>
          <p:nvPr/>
        </p:nvSpPr>
        <p:spPr>
          <a:xfrm>
            <a:off x="548640" y="1417320"/>
            <a:ext cx="2615184" cy="4526280"/>
          </a:xfrm>
          <a:prstGeom prst="roundRect">
            <a:avLst>
              <a:gd name="adj" fmla="val 2797"/>
            </a:avLst>
          </a:prstGeom>
          <a:solidFill>
            <a:schemeClr val="bg2"/>
          </a:solidFill>
          <a:ln/>
        </p:spPr>
      </p:sp>
      <p:sp>
        <p:nvSpPr>
          <p:cNvPr id="4" name="Application badge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Application badge label"/>
          <p:cNvSpPr txBox="1"/>
          <p:nvPr/>
        </p:nvSpPr>
        <p:spPr>
          <a:xfrm>
            <a:off x="7772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6" name="Application heading"/>
          <p:cNvSpPr txBox="1"/>
          <p:nvPr/>
        </p:nvSpPr>
        <p:spPr>
          <a:xfrm>
            <a:off x="77724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Application</a:t>
            </a:r>
            <a:endParaRPr lang="en-US" sz="2000" dirty="0"/>
          </a:p>
        </p:txBody>
      </p:sp>
      <p:sp>
        <p:nvSpPr>
          <p:cNvPr id="7" name="Application list"/>
          <p:cNvSpPr txBox="1"/>
          <p:nvPr/>
        </p:nvSpPr>
        <p:spPr>
          <a:xfrm>
            <a:off x="777240" y="278892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Python 3.12 · FastAPI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SQLAlchemy 2 · Alembic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PostgreSQL 16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pytest · ruff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React 19 · Vite · nginx</a:t>
            </a:r>
            <a:endParaRPr lang="en-US" sz="1500" dirty="0"/>
          </a:p>
        </p:txBody>
      </p:sp>
      <p:sp>
        <p:nvSpPr>
          <p:cNvPr id="8" name="Delivery card"/>
          <p:cNvSpPr/>
          <p:nvPr/>
        </p:nvSpPr>
        <p:spPr>
          <a:xfrm>
            <a:off x="3364992" y="1417320"/>
            <a:ext cx="2615184" cy="4526280"/>
          </a:xfrm>
          <a:prstGeom prst="roundRect">
            <a:avLst>
              <a:gd name="adj" fmla="val 2797"/>
            </a:avLst>
          </a:prstGeom>
          <a:solidFill>
            <a:schemeClr val="bg2"/>
          </a:solidFill>
          <a:ln/>
        </p:spPr>
      </p:sp>
      <p:sp>
        <p:nvSpPr>
          <p:cNvPr id="9" name="Delivery badge"/>
          <p:cNvSpPr/>
          <p:nvPr/>
        </p:nvSpPr>
        <p:spPr>
          <a:xfrm>
            <a:off x="3593592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Delivery badge label"/>
          <p:cNvSpPr txBox="1"/>
          <p:nvPr/>
        </p:nvSpPr>
        <p:spPr>
          <a:xfrm>
            <a:off x="3593592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</a:t>
            </a:r>
            <a:endParaRPr lang="en-US" sz="1800" dirty="0"/>
          </a:p>
        </p:txBody>
      </p:sp>
      <p:sp>
        <p:nvSpPr>
          <p:cNvPr id="11" name="Delivery heading"/>
          <p:cNvSpPr txBox="1"/>
          <p:nvPr/>
        </p:nvSpPr>
        <p:spPr>
          <a:xfrm>
            <a:off x="3593592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Delivery</a:t>
            </a:r>
            <a:endParaRPr lang="en-US" sz="2000" dirty="0"/>
          </a:p>
        </p:txBody>
      </p:sp>
      <p:sp>
        <p:nvSpPr>
          <p:cNvPr id="12" name="Delivery list"/>
          <p:cNvSpPr txBox="1"/>
          <p:nvPr/>
        </p:nvSpPr>
        <p:spPr>
          <a:xfrm>
            <a:off x="3593592" y="278892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Docker multi-stage, non-root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Docker Compose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GitHub Actions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GitHub Container Registry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Trivy · gitleaks</a:t>
            </a:r>
            <a:endParaRPr lang="en-US" sz="1500" dirty="0"/>
          </a:p>
        </p:txBody>
      </p:sp>
      <p:sp>
        <p:nvSpPr>
          <p:cNvPr id="13" name="Platform card"/>
          <p:cNvSpPr/>
          <p:nvPr/>
        </p:nvSpPr>
        <p:spPr>
          <a:xfrm>
            <a:off x="6181344" y="1417320"/>
            <a:ext cx="2615184" cy="4526280"/>
          </a:xfrm>
          <a:prstGeom prst="roundRect">
            <a:avLst>
              <a:gd name="adj" fmla="val 2797"/>
            </a:avLst>
          </a:prstGeom>
          <a:solidFill>
            <a:schemeClr val="bg2"/>
          </a:solidFill>
          <a:ln/>
        </p:spPr>
      </p:sp>
      <p:sp>
        <p:nvSpPr>
          <p:cNvPr id="14" name="Platform badge"/>
          <p:cNvSpPr/>
          <p:nvPr/>
        </p:nvSpPr>
        <p:spPr>
          <a:xfrm>
            <a:off x="6409944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Platform badge label"/>
          <p:cNvSpPr txBox="1"/>
          <p:nvPr/>
        </p:nvSpPr>
        <p:spPr>
          <a:xfrm>
            <a:off x="6409944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</a:t>
            </a:r>
            <a:endParaRPr lang="en-US" sz="1800" dirty="0"/>
          </a:p>
        </p:txBody>
      </p:sp>
      <p:sp>
        <p:nvSpPr>
          <p:cNvPr id="16" name="Platform heading"/>
          <p:cNvSpPr txBox="1"/>
          <p:nvPr/>
        </p:nvSpPr>
        <p:spPr>
          <a:xfrm>
            <a:off x="6409944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Platform</a:t>
            </a:r>
            <a:endParaRPr lang="en-US" sz="2000" dirty="0"/>
          </a:p>
        </p:txBody>
      </p:sp>
      <p:sp>
        <p:nvSpPr>
          <p:cNvPr id="17" name="Platform list"/>
          <p:cNvSpPr txBox="1"/>
          <p:nvPr/>
        </p:nvSpPr>
        <p:spPr>
          <a:xfrm>
            <a:off x="6409944" y="278892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Terraform: AWS VPC + EKS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LocalStack (CI)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Kubernetes (kind) · Helm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NGINX Ingress · HPA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Argo CD (GitOps)</a:t>
            </a:r>
            <a:endParaRPr lang="en-US" sz="1500" dirty="0"/>
          </a:p>
        </p:txBody>
      </p:sp>
      <p:sp>
        <p:nvSpPr>
          <p:cNvPr id="18" name="Observability card"/>
          <p:cNvSpPr/>
          <p:nvPr/>
        </p:nvSpPr>
        <p:spPr>
          <a:xfrm>
            <a:off x="8997696" y="1417320"/>
            <a:ext cx="2615184" cy="4526280"/>
          </a:xfrm>
          <a:prstGeom prst="roundRect">
            <a:avLst>
              <a:gd name="adj" fmla="val 2797"/>
            </a:avLst>
          </a:prstGeom>
          <a:solidFill>
            <a:schemeClr val="bg2"/>
          </a:solidFill>
          <a:ln/>
        </p:spPr>
      </p:sp>
      <p:sp>
        <p:nvSpPr>
          <p:cNvPr id="19" name="Observability badge"/>
          <p:cNvSpPr/>
          <p:nvPr/>
        </p:nvSpPr>
        <p:spPr>
          <a:xfrm>
            <a:off x="9226296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Observability badge label"/>
          <p:cNvSpPr txBox="1"/>
          <p:nvPr/>
        </p:nvSpPr>
        <p:spPr>
          <a:xfrm>
            <a:off x="9226296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</a:t>
            </a:r>
            <a:endParaRPr lang="en-US" sz="1800" dirty="0"/>
          </a:p>
        </p:txBody>
      </p:sp>
      <p:sp>
        <p:nvSpPr>
          <p:cNvPr id="21" name="Observability heading"/>
          <p:cNvSpPr txBox="1"/>
          <p:nvPr/>
        </p:nvSpPr>
        <p:spPr>
          <a:xfrm>
            <a:off x="9226296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Observability</a:t>
            </a:r>
            <a:endParaRPr lang="en-US" sz="2000" dirty="0"/>
          </a:p>
        </p:txBody>
      </p:sp>
      <p:sp>
        <p:nvSpPr>
          <p:cNvPr id="22" name="Observability list"/>
          <p:cNvSpPr txBox="1"/>
          <p:nvPr/>
        </p:nvSpPr>
        <p:spPr>
          <a:xfrm>
            <a:off x="9226296" y="278892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prometheus-fastapi-instrumentator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Prometheus + kube-state-metrics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Grafana dashboard as code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6 alert rules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Playwright screenshots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Architecture</a:t>
            </a:r>
            <a:endParaRPr lang="en-US" sz="3400" dirty="0"/>
          </a:p>
        </p:txBody>
      </p:sp>
      <p:pic>
        <p:nvPicPr>
          <p:cNvPr id="3" name="architecture diagram" descr="IncidentDesk end-to-end architec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0552" y="1188720"/>
            <a:ext cx="7927848" cy="5074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CI/CD: every stage is a gate</a:t>
            </a:r>
            <a:endParaRPr lang="en-US" sz="3400" dirty="0"/>
          </a:p>
        </p:txBody>
      </p:sp>
      <p:sp>
        <p:nvSpPr>
          <p:cNvPr id="3" name="Test step"/>
          <p:cNvSpPr/>
          <p:nvPr/>
        </p:nvSpPr>
        <p:spPr>
          <a:xfrm>
            <a:off x="548640" y="1371600"/>
            <a:ext cx="198424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4" name="Test badge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st badge label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st heading"/>
          <p:cNvSpPr txBox="1"/>
          <p:nvPr/>
        </p:nvSpPr>
        <p:spPr>
          <a:xfrm>
            <a:off x="1188720" y="15361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Test</a:t>
            </a:r>
            <a:endParaRPr lang="en-US" sz="1600" dirty="0"/>
          </a:p>
        </p:txBody>
      </p:sp>
      <p:sp>
        <p:nvSpPr>
          <p:cNvPr id="7" name="Test detail"/>
          <p:cNvSpPr txBox="1"/>
          <p:nvPr/>
        </p:nvSpPr>
        <p:spPr>
          <a:xfrm>
            <a:off x="713232" y="20116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ruff · pytest -v on a real Postgres · vite build</a:t>
            </a:r>
            <a:endParaRPr lang="en-US" sz="1400" dirty="0"/>
          </a:p>
        </p:txBody>
      </p:sp>
      <p:sp>
        <p:nvSpPr>
          <p:cNvPr id="8" name="arrow 1"/>
          <p:cNvSpPr/>
          <p:nvPr/>
        </p:nvSpPr>
        <p:spPr>
          <a:xfrm>
            <a:off x="2574036" y="2039112"/>
            <a:ext cx="182880" cy="27432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9" name="Secret scan step"/>
          <p:cNvSpPr/>
          <p:nvPr/>
        </p:nvSpPr>
        <p:spPr>
          <a:xfrm>
            <a:off x="2807208" y="1371600"/>
            <a:ext cx="198424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0" name="Secret scan badge"/>
          <p:cNvSpPr/>
          <p:nvPr/>
        </p:nvSpPr>
        <p:spPr>
          <a:xfrm>
            <a:off x="2971800" y="153619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ecret scan badge label"/>
          <p:cNvSpPr txBox="1"/>
          <p:nvPr/>
        </p:nvSpPr>
        <p:spPr>
          <a:xfrm>
            <a:off x="297180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Secret scan heading"/>
          <p:cNvSpPr txBox="1"/>
          <p:nvPr/>
        </p:nvSpPr>
        <p:spPr>
          <a:xfrm>
            <a:off x="3447288" y="15361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Secret scan</a:t>
            </a:r>
            <a:endParaRPr lang="en-US" sz="1600" dirty="0"/>
          </a:p>
        </p:txBody>
      </p:sp>
      <p:sp>
        <p:nvSpPr>
          <p:cNvPr id="13" name="Secret scan detail"/>
          <p:cNvSpPr txBox="1"/>
          <p:nvPr/>
        </p:nvSpPr>
        <p:spPr>
          <a:xfrm>
            <a:off x="2971800" y="20116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gitleaks over the full Git history</a:t>
            </a:r>
            <a:endParaRPr lang="en-US" sz="1400" dirty="0"/>
          </a:p>
        </p:txBody>
      </p:sp>
      <p:sp>
        <p:nvSpPr>
          <p:cNvPr id="14" name="arrow 2"/>
          <p:cNvSpPr/>
          <p:nvPr/>
        </p:nvSpPr>
        <p:spPr>
          <a:xfrm>
            <a:off x="4832604" y="2039112"/>
            <a:ext cx="182880" cy="27432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5" name="Build + Trivy step"/>
          <p:cNvSpPr/>
          <p:nvPr/>
        </p:nvSpPr>
        <p:spPr>
          <a:xfrm>
            <a:off x="5065776" y="1371600"/>
            <a:ext cx="198424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6" name="Build + Trivy badge"/>
          <p:cNvSpPr/>
          <p:nvPr/>
        </p:nvSpPr>
        <p:spPr>
          <a:xfrm>
            <a:off x="5230368" y="153619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Build + Trivy badge label"/>
          <p:cNvSpPr txBox="1"/>
          <p:nvPr/>
        </p:nvSpPr>
        <p:spPr>
          <a:xfrm>
            <a:off x="5230368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Build + Trivy heading"/>
          <p:cNvSpPr txBox="1"/>
          <p:nvPr/>
        </p:nvSpPr>
        <p:spPr>
          <a:xfrm>
            <a:off x="5705856" y="15361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Build + Trivy</a:t>
            </a:r>
            <a:endParaRPr lang="en-US" sz="1600" dirty="0"/>
          </a:p>
        </p:txBody>
      </p:sp>
      <p:sp>
        <p:nvSpPr>
          <p:cNvPr id="19" name="Build + Trivy detail"/>
          <p:cNvSpPr txBox="1"/>
          <p:nvPr/>
        </p:nvSpPr>
        <p:spPr>
          <a:xfrm>
            <a:off x="5230368" y="20116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both images; fail on fixable HIGH/CRITICAL</a:t>
            </a:r>
            <a:endParaRPr lang="en-US" sz="1400" dirty="0"/>
          </a:p>
        </p:txBody>
      </p:sp>
      <p:sp>
        <p:nvSpPr>
          <p:cNvPr id="20" name="arrow 3"/>
          <p:cNvSpPr/>
          <p:nvPr/>
        </p:nvSpPr>
        <p:spPr>
          <a:xfrm>
            <a:off x="7091172" y="2039112"/>
            <a:ext cx="182880" cy="27432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21" name="Push to GHCR step"/>
          <p:cNvSpPr/>
          <p:nvPr/>
        </p:nvSpPr>
        <p:spPr>
          <a:xfrm>
            <a:off x="7324344" y="1371600"/>
            <a:ext cx="198424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22" name="Push to GHCR badge"/>
          <p:cNvSpPr/>
          <p:nvPr/>
        </p:nvSpPr>
        <p:spPr>
          <a:xfrm>
            <a:off x="7488936" y="153619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Push to GHCR badge label"/>
          <p:cNvSpPr txBox="1"/>
          <p:nvPr/>
        </p:nvSpPr>
        <p:spPr>
          <a:xfrm>
            <a:off x="7488936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Push to GHCR heading"/>
          <p:cNvSpPr txBox="1"/>
          <p:nvPr/>
        </p:nvSpPr>
        <p:spPr>
          <a:xfrm>
            <a:off x="7964424" y="15361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Push to GHCR</a:t>
            </a:r>
            <a:endParaRPr lang="en-US" sz="1600" dirty="0"/>
          </a:p>
        </p:txBody>
      </p:sp>
      <p:sp>
        <p:nvSpPr>
          <p:cNvPr id="25" name="Push to GHCR detail"/>
          <p:cNvSpPr txBox="1"/>
          <p:nvPr/>
        </p:nvSpPr>
        <p:spPr>
          <a:xfrm>
            <a:off x="7488936" y="20116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tag = commit SHA, never latest</a:t>
            </a:r>
            <a:endParaRPr lang="en-US" sz="1400" dirty="0"/>
          </a:p>
        </p:txBody>
      </p:sp>
      <p:sp>
        <p:nvSpPr>
          <p:cNvPr id="26" name="arrow 4"/>
          <p:cNvSpPr/>
          <p:nvPr/>
        </p:nvSpPr>
        <p:spPr>
          <a:xfrm>
            <a:off x="9349740" y="2039112"/>
            <a:ext cx="182880" cy="27432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27" name="Deploy step"/>
          <p:cNvSpPr/>
          <p:nvPr/>
        </p:nvSpPr>
        <p:spPr>
          <a:xfrm>
            <a:off x="9582912" y="1371600"/>
            <a:ext cx="198424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28" name="Deploy badge"/>
          <p:cNvSpPr/>
          <p:nvPr/>
        </p:nvSpPr>
        <p:spPr>
          <a:xfrm>
            <a:off x="9747504" y="153619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Deploy badge label"/>
          <p:cNvSpPr txBox="1"/>
          <p:nvPr/>
        </p:nvSpPr>
        <p:spPr>
          <a:xfrm>
            <a:off x="9747504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Deploy heading"/>
          <p:cNvSpPr txBox="1"/>
          <p:nvPr/>
        </p:nvSpPr>
        <p:spPr>
          <a:xfrm>
            <a:off x="10222992" y="15361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Deploy</a:t>
            </a:r>
            <a:endParaRPr lang="en-US" sz="1600" dirty="0"/>
          </a:p>
        </p:txBody>
      </p:sp>
      <p:sp>
        <p:nvSpPr>
          <p:cNvPr id="31" name="Deploy detail"/>
          <p:cNvSpPr txBox="1"/>
          <p:nvPr/>
        </p:nvSpPr>
        <p:spPr>
          <a:xfrm>
            <a:off x="9747504" y="20116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kind · Helm · Ingress · HPA · monitoring · Argo CD</a:t>
            </a:r>
            <a:endParaRPr lang="en-US" sz="1400" dirty="0"/>
          </a:p>
        </p:txBody>
      </p:sp>
      <p:sp>
        <p:nvSpPr>
          <p:cNvPr id="32" name="GitHub Actions run 5 frame"/>
          <p:cNvSpPr/>
          <p:nvPr/>
        </p:nvSpPr>
        <p:spPr>
          <a:xfrm>
            <a:off x="557784" y="3300984"/>
            <a:ext cx="5010912" cy="2898648"/>
          </a:xfrm>
          <a:prstGeom prst="rect">
            <a:avLst/>
          </a:prstGeom>
          <a:solidFill>
            <a:schemeClr val="accent6"/>
          </a:solidFill>
          <a:ln/>
          <a:effectLst>
            <a:outerShdw sx="100000" sy="100000" kx="0" ky="0" algn="bl" rotWithShape="0" blurRad="76200" dist="25400" dir="5400000">
              <a:srgbClr val="101828">
                <a:alpha val="18000"/>
              </a:srgbClr>
            </a:outerShdw>
          </a:effectLst>
        </p:spPr>
      </p:sp>
      <p:pic>
        <p:nvPicPr>
          <p:cNvPr id="33" name="GitHub Actions run 5" descr="GitHub Actions run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337560"/>
            <a:ext cx="4937760" cy="2825496"/>
          </a:xfrm>
          <a:prstGeom prst="rect">
            <a:avLst/>
          </a:prstGeom>
        </p:spPr>
      </p:pic>
      <p:sp>
        <p:nvSpPr>
          <p:cNvPr id="34" name="pipeline notes"/>
          <p:cNvSpPr txBox="1"/>
          <p:nvPr/>
        </p:nvSpPr>
        <p:spPr>
          <a:xfrm>
            <a:off x="5943600" y="3337560"/>
            <a:ext cx="5669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Run #5: 5/5 jobs green in 22 min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Triggers on every push to main (docs-only changes skipped), on PRs and on demand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failing test, lint error or fixable HIGH CVE stops the run before anything is pushed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Image tag = full commit SHA, so production traces back to one exact commit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Terraform runs alongside: plan, apply and destroy on LocalStack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Results from the evidence run</a:t>
            </a:r>
            <a:endParaRPr lang="en-US" sz="3400" dirty="0"/>
          </a:p>
        </p:txBody>
      </p:sp>
      <p:sp>
        <p:nvSpPr>
          <p:cNvPr id="3" name="pytest cases passed card"/>
          <p:cNvSpPr/>
          <p:nvPr/>
        </p:nvSpPr>
        <p:spPr>
          <a:xfrm>
            <a:off x="548640" y="1645920"/>
            <a:ext cx="2075688" cy="3291840"/>
          </a:xfrm>
          <a:prstGeom prst="roundRect">
            <a:avLst>
              <a:gd name="adj" fmla="val 3524"/>
            </a:avLst>
          </a:prstGeom>
          <a:solidFill>
            <a:schemeClr val="bg2"/>
          </a:solidFill>
          <a:ln/>
        </p:spPr>
      </p:sp>
      <p:sp>
        <p:nvSpPr>
          <p:cNvPr id="4" name="pytest cases passed stat"/>
          <p:cNvSpPr txBox="1"/>
          <p:nvPr/>
        </p:nvSpPr>
        <p:spPr>
          <a:xfrm>
            <a:off x="548640" y="1920240"/>
            <a:ext cx="207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13/13</a:t>
            </a:r>
            <a:endParaRPr lang="en-US" sz="4800" dirty="0"/>
          </a:p>
        </p:txBody>
      </p:sp>
      <p:sp>
        <p:nvSpPr>
          <p:cNvPr id="5" name="pytest cases passed label"/>
          <p:cNvSpPr txBox="1"/>
          <p:nvPr/>
        </p:nvSpPr>
        <p:spPr>
          <a:xfrm>
            <a:off x="685800" y="3108960"/>
            <a:ext cx="180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pytest cases passed</a:t>
            </a:r>
            <a:endParaRPr lang="en-US" sz="1700" dirty="0"/>
          </a:p>
        </p:txBody>
      </p:sp>
      <p:sp>
        <p:nvSpPr>
          <p:cNvPr id="6" name="pytest cases passed detail"/>
          <p:cNvSpPr txBox="1"/>
          <p:nvPr/>
        </p:nvSpPr>
        <p:spPr>
          <a:xfrm>
            <a:off x="685800" y="3886200"/>
            <a:ext cx="1801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97% coverage, gate at 85%</a:t>
            </a:r>
            <a:endParaRPr lang="en-US" sz="1400" dirty="0"/>
          </a:p>
        </p:txBody>
      </p:sp>
      <p:sp>
        <p:nvSpPr>
          <p:cNvPr id="7" name="HIGH / CRITICAL CVEs card"/>
          <p:cNvSpPr/>
          <p:nvPr/>
        </p:nvSpPr>
        <p:spPr>
          <a:xfrm>
            <a:off x="2807208" y="1645920"/>
            <a:ext cx="2075688" cy="3291840"/>
          </a:xfrm>
          <a:prstGeom prst="roundRect">
            <a:avLst>
              <a:gd name="adj" fmla="val 3524"/>
            </a:avLst>
          </a:prstGeom>
          <a:solidFill>
            <a:schemeClr val="bg2"/>
          </a:solidFill>
          <a:ln/>
        </p:spPr>
      </p:sp>
      <p:sp>
        <p:nvSpPr>
          <p:cNvPr id="8" name="HIGH / CRITICAL CVEs stat"/>
          <p:cNvSpPr txBox="1"/>
          <p:nvPr/>
        </p:nvSpPr>
        <p:spPr>
          <a:xfrm>
            <a:off x="2807208" y="1920240"/>
            <a:ext cx="207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</a:t>
            </a:r>
            <a:endParaRPr lang="en-US" sz="4800" dirty="0"/>
          </a:p>
        </p:txBody>
      </p:sp>
      <p:sp>
        <p:nvSpPr>
          <p:cNvPr id="9" name="HIGH / CRITICAL CVEs label"/>
          <p:cNvSpPr txBox="1"/>
          <p:nvPr/>
        </p:nvSpPr>
        <p:spPr>
          <a:xfrm>
            <a:off x="2944368" y="3108960"/>
            <a:ext cx="180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HIGH / CRITICAL CVEs</a:t>
            </a:r>
            <a:endParaRPr lang="en-US" sz="1700" dirty="0"/>
          </a:p>
        </p:txBody>
      </p:sp>
      <p:sp>
        <p:nvSpPr>
          <p:cNvPr id="10" name="HIGH / CRITICAL CVEs detail"/>
          <p:cNvSpPr txBox="1"/>
          <p:nvPr/>
        </p:nvSpPr>
        <p:spPr>
          <a:xfrm>
            <a:off x="2944368" y="3886200"/>
            <a:ext cx="1801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Trivy, both images</a:t>
            </a:r>
            <a:endParaRPr lang="en-US" sz="1400" dirty="0"/>
          </a:p>
        </p:txBody>
      </p:sp>
      <p:sp>
        <p:nvSpPr>
          <p:cNvPr id="11" name="Terraform resources planned card"/>
          <p:cNvSpPr/>
          <p:nvPr/>
        </p:nvSpPr>
        <p:spPr>
          <a:xfrm>
            <a:off x="5065776" y="1645920"/>
            <a:ext cx="2075688" cy="3291840"/>
          </a:xfrm>
          <a:prstGeom prst="roundRect">
            <a:avLst>
              <a:gd name="adj" fmla="val 3524"/>
            </a:avLst>
          </a:prstGeom>
          <a:solidFill>
            <a:schemeClr val="bg2"/>
          </a:solidFill>
          <a:ln/>
        </p:spPr>
      </p:sp>
      <p:sp>
        <p:nvSpPr>
          <p:cNvPr id="12" name="Terraform resources planned stat"/>
          <p:cNvSpPr txBox="1"/>
          <p:nvPr/>
        </p:nvSpPr>
        <p:spPr>
          <a:xfrm>
            <a:off x="5065776" y="1920240"/>
            <a:ext cx="207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38</a:t>
            </a:r>
            <a:endParaRPr lang="en-US" sz="4800" dirty="0"/>
          </a:p>
        </p:txBody>
      </p:sp>
      <p:sp>
        <p:nvSpPr>
          <p:cNvPr id="13" name="Terraform resources planned label"/>
          <p:cNvSpPr txBox="1"/>
          <p:nvPr/>
        </p:nvSpPr>
        <p:spPr>
          <a:xfrm>
            <a:off x="5202936" y="3108960"/>
            <a:ext cx="180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Terraform resources planned</a:t>
            </a:r>
            <a:endParaRPr lang="en-US" sz="1700" dirty="0"/>
          </a:p>
        </p:txBody>
      </p:sp>
      <p:sp>
        <p:nvSpPr>
          <p:cNvPr id="14" name="Terraform resources planned detail"/>
          <p:cNvSpPr txBox="1"/>
          <p:nvPr/>
        </p:nvSpPr>
        <p:spPr>
          <a:xfrm>
            <a:off x="5202936" y="3886200"/>
            <a:ext cx="1801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VPC, subnets, NAT, EKS, node group</a:t>
            </a:r>
            <a:endParaRPr lang="en-US" sz="1400" dirty="0"/>
          </a:p>
        </p:txBody>
      </p:sp>
      <p:sp>
        <p:nvSpPr>
          <p:cNvPr id="15" name="backend pods card"/>
          <p:cNvSpPr/>
          <p:nvPr/>
        </p:nvSpPr>
        <p:spPr>
          <a:xfrm>
            <a:off x="7324344" y="1645920"/>
            <a:ext cx="2075688" cy="3291840"/>
          </a:xfrm>
          <a:prstGeom prst="roundRect">
            <a:avLst>
              <a:gd name="adj" fmla="val 3524"/>
            </a:avLst>
          </a:prstGeom>
          <a:solidFill>
            <a:schemeClr val="bg2"/>
          </a:solidFill>
          <a:ln/>
        </p:spPr>
      </p:sp>
      <p:sp>
        <p:nvSpPr>
          <p:cNvPr id="16" name="backend pods stat"/>
          <p:cNvSpPr txBox="1"/>
          <p:nvPr/>
        </p:nvSpPr>
        <p:spPr>
          <a:xfrm>
            <a:off x="7324344" y="1920240"/>
            <a:ext cx="207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2 → 5</a:t>
            </a:r>
            <a:endParaRPr lang="en-US" sz="4800" dirty="0"/>
          </a:p>
        </p:txBody>
      </p:sp>
      <p:sp>
        <p:nvSpPr>
          <p:cNvPr id="17" name="backend pods label"/>
          <p:cNvSpPr txBox="1"/>
          <p:nvPr/>
        </p:nvSpPr>
        <p:spPr>
          <a:xfrm>
            <a:off x="7461504" y="3108960"/>
            <a:ext cx="180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backend pods</a:t>
            </a:r>
            <a:endParaRPr lang="en-US" sz="1700" dirty="0"/>
          </a:p>
        </p:txBody>
      </p:sp>
      <p:sp>
        <p:nvSpPr>
          <p:cNvPr id="18" name="backend pods detail"/>
          <p:cNvSpPr txBox="1"/>
          <p:nvPr/>
        </p:nvSpPr>
        <p:spPr>
          <a:xfrm>
            <a:off x="7461504" y="3886200"/>
            <a:ext cx="1801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HPA scaled under load (CPU 342%/60%)</a:t>
            </a:r>
            <a:endParaRPr lang="en-US" sz="1400" dirty="0"/>
          </a:p>
        </p:txBody>
      </p:sp>
      <p:sp>
        <p:nvSpPr>
          <p:cNvPr id="19" name="Prometheus targets UP card"/>
          <p:cNvSpPr/>
          <p:nvPr/>
        </p:nvSpPr>
        <p:spPr>
          <a:xfrm>
            <a:off x="9582912" y="1645920"/>
            <a:ext cx="2075688" cy="3291840"/>
          </a:xfrm>
          <a:prstGeom prst="roundRect">
            <a:avLst>
              <a:gd name="adj" fmla="val 3524"/>
            </a:avLst>
          </a:prstGeom>
          <a:solidFill>
            <a:schemeClr val="bg2"/>
          </a:solidFill>
          <a:ln/>
        </p:spPr>
      </p:sp>
      <p:sp>
        <p:nvSpPr>
          <p:cNvPr id="20" name="Prometheus targets UP stat"/>
          <p:cNvSpPr txBox="1"/>
          <p:nvPr/>
        </p:nvSpPr>
        <p:spPr>
          <a:xfrm>
            <a:off x="9582912" y="1920240"/>
            <a:ext cx="207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5/5</a:t>
            </a:r>
            <a:endParaRPr lang="en-US" sz="4800" dirty="0"/>
          </a:p>
        </p:txBody>
      </p:sp>
      <p:sp>
        <p:nvSpPr>
          <p:cNvPr id="21" name="Prometheus targets UP label"/>
          <p:cNvSpPr txBox="1"/>
          <p:nvPr/>
        </p:nvSpPr>
        <p:spPr>
          <a:xfrm>
            <a:off x="9720072" y="3108960"/>
            <a:ext cx="180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Prometheus targets UP</a:t>
            </a:r>
            <a:endParaRPr lang="en-US" sz="1700" dirty="0"/>
          </a:p>
        </p:txBody>
      </p:sp>
      <p:sp>
        <p:nvSpPr>
          <p:cNvPr id="22" name="Prometheus targets UP detail"/>
          <p:cNvSpPr txBox="1"/>
          <p:nvPr/>
        </p:nvSpPr>
        <p:spPr>
          <a:xfrm>
            <a:off x="9720072" y="3886200"/>
            <a:ext cx="1801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every backend pod scraped</a:t>
            </a:r>
            <a:endParaRPr lang="en-US" sz="1400" dirty="0"/>
          </a:p>
        </p:txBody>
      </p:sp>
      <p:sp>
        <p:nvSpPr>
          <p:cNvPr id="23" name="source note"/>
          <p:cNvSpPr txBox="1"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All numbers come from the logs in demo/evidence/, downloaded from GitHub Actions run #5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DevSecOps: scan before you ship</a:t>
            </a:r>
            <a:endParaRPr lang="en-US" sz="3400" dirty="0"/>
          </a:p>
        </p:txBody>
      </p:sp>
      <p:graphicFrame>
        <p:nvGraphicFramePr>
          <p:cNvPr id="8" name="security layer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1206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Layer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Control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Secrets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gitleaks, full history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Containers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Trivy on both images, before push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Code / deps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Semgrep, Bandit, pip-audit configs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Runtime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non-root, read-only FS, no default password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rivy explanation"/>
          <p:cNvSpPr txBox="1"/>
          <p:nvPr/>
        </p:nvSpPr>
        <p:spPr>
          <a:xfrm>
            <a:off x="548640" y="406908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What the clean result means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Trivy checked the Debian and Alpine OS packages plus the Python and npm dependencies in each image. It found no HIGH or CRITICAL CVE that has a fix. That is one control, not a guarantee: unfixed CVEs and runtime behaviour are covered by other layers.</a:t>
            </a:r>
            <a:endParaRPr lang="en-US" sz="1700" dirty="0"/>
          </a:p>
        </p:txBody>
      </p:sp>
      <p:sp>
        <p:nvSpPr>
          <p:cNvPr id="5" name="Trivy scan summary frame"/>
          <p:cNvSpPr/>
          <p:nvPr/>
        </p:nvSpPr>
        <p:spPr>
          <a:xfrm>
            <a:off x="6044184" y="1380744"/>
            <a:ext cx="5605272" cy="1490472"/>
          </a:xfrm>
          <a:prstGeom prst="rect">
            <a:avLst/>
          </a:prstGeom>
          <a:solidFill>
            <a:schemeClr val="accent6"/>
          </a:solidFill>
          <a:ln/>
          <a:effectLst>
            <a:outerShdw sx="100000" sy="100000" kx="0" ky="0" algn="bl" rotWithShape="0" blurRad="76200" dist="25400" dir="5400000">
              <a:srgbClr val="101828">
                <a:alpha val="18000"/>
              </a:srgbClr>
            </a:outerShdw>
          </a:effectLst>
        </p:spPr>
      </p:sp>
      <p:pic>
        <p:nvPicPr>
          <p:cNvPr id="6" name="Trivy scan summary" descr="Trivy scan summa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417320"/>
            <a:ext cx="5532120" cy="1417320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6080760" y="292608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trivy image --severity HIGH,CRITICAL --ignore-unfixed --exit-code 1, run on both images</a:t>
            </a:r>
            <a:endParaRPr lang="en-US" sz="1100" dirty="0"/>
          </a:p>
        </p:txBody>
      </p:sp>
      <p:sp>
        <p:nvSpPr>
          <p:cNvPr id="8" name="pytest results frame"/>
          <p:cNvSpPr/>
          <p:nvPr/>
        </p:nvSpPr>
        <p:spPr>
          <a:xfrm>
            <a:off x="6044184" y="3392424"/>
            <a:ext cx="4919472" cy="2724912"/>
          </a:xfrm>
          <a:prstGeom prst="rect">
            <a:avLst/>
          </a:prstGeom>
          <a:solidFill>
            <a:schemeClr val="accent6"/>
          </a:solidFill>
          <a:ln/>
          <a:effectLst>
            <a:outerShdw sx="100000" sy="100000" kx="0" ky="0" algn="bl" rotWithShape="0" blurRad="76200" dist="25400" dir="5400000">
              <a:srgbClr val="101828">
                <a:alpha val="18000"/>
              </a:srgbClr>
            </a:outerShdw>
          </a:effectLst>
        </p:spPr>
      </p:sp>
      <p:pic>
        <p:nvPicPr>
          <p:cNvPr id="9" name="pytest results" descr="pytest resul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3429000"/>
            <a:ext cx="4846320" cy="2651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Terraform: AWS VPC + EKS as code</a:t>
            </a:r>
            <a:endParaRPr lang="en-US" sz="3400" dirty="0"/>
          </a:p>
        </p:txBody>
      </p:sp>
      <p:sp>
        <p:nvSpPr>
          <p:cNvPr id="3" name="Network badge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Network badge label"/>
          <p:cNvSpPr txBox="1"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</a:t>
            </a:r>
            <a:endParaRPr lang="en-US" sz="1400" dirty="0"/>
          </a:p>
        </p:txBody>
      </p:sp>
      <p:sp>
        <p:nvSpPr>
          <p:cNvPr id="5" name="Network text"/>
          <p:cNvSpPr txBox="1"/>
          <p:nvPr/>
        </p:nvSpPr>
        <p:spPr>
          <a:xfrm>
            <a:off x="1188720" y="13716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Network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VPC 10.20.0.0/16 in ap-south-1 · 2 public + 2 private subnets · IGW · NAT</a:t>
            </a:r>
            <a:endParaRPr lang="en-US" sz="1700" dirty="0"/>
          </a:p>
        </p:txBody>
      </p:sp>
      <p:sp>
        <p:nvSpPr>
          <p:cNvPr id="6" name="EKS badge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EKS badge label"/>
          <p:cNvSpPr txBox="1"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</a:t>
            </a:r>
            <a:endParaRPr lang="en-US" sz="1400" dirty="0"/>
          </a:p>
        </p:txBody>
      </p:sp>
      <p:sp>
        <p:nvSpPr>
          <p:cNvPr id="8" name="EKS text"/>
          <p:cNvSpPr txBox="1"/>
          <p:nvPr/>
        </p:nvSpPr>
        <p:spPr>
          <a:xfrm>
            <a:off x="1188720" y="23774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EKS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cluster v1.33 · managed node group, 2 × t3.medium in private subnets</a:t>
            </a:r>
            <a:endParaRPr lang="en-US" sz="1700" dirty="0"/>
          </a:p>
        </p:txBody>
      </p:sp>
      <p:sp>
        <p:nvSpPr>
          <p:cNvPr id="9" name="Security badge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ecurity badge label"/>
          <p:cNvSpPr txBox="1"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</a:t>
            </a:r>
            <a:endParaRPr lang="en-US" sz="1400" dirty="0"/>
          </a:p>
        </p:txBody>
      </p:sp>
      <p:sp>
        <p:nvSpPr>
          <p:cNvPr id="11" name="Security text"/>
          <p:cNvSpPr txBox="1"/>
          <p:nvPr/>
        </p:nvSpPr>
        <p:spPr>
          <a:xfrm>
            <a:off x="1188720" y="33832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Security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IAM roles for cluster and nodes · SGs: web 80/443, db 5432 from web only</a:t>
            </a:r>
            <a:endParaRPr lang="en-US" sz="1700" dirty="0"/>
          </a:p>
        </p:txBody>
      </p:sp>
      <p:sp>
        <p:nvSpPr>
          <p:cNvPr id="12" name="Storage badge"/>
          <p:cNvSpPr/>
          <p:nvPr/>
        </p:nvSpPr>
        <p:spPr>
          <a:xfrm>
            <a:off x="548640" y="44805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torage badge label"/>
          <p:cNvSpPr txBox="1"/>
          <p:nvPr/>
        </p:nvSpPr>
        <p:spPr>
          <a:xfrm>
            <a:off x="54864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Storage text"/>
          <p:cNvSpPr txBox="1"/>
          <p:nvPr/>
        </p:nvSpPr>
        <p:spPr>
          <a:xfrm>
            <a:off x="1188720" y="43891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Storage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versioned, encrypted backup bucket · DynamoDB state lock</a:t>
            </a:r>
            <a:endParaRPr lang="en-US" sz="1700" dirty="0"/>
          </a:p>
        </p:txBody>
      </p:sp>
      <p:sp>
        <p:nvSpPr>
          <p:cNvPr id="15" name="honesty note"/>
          <p:cNvSpPr/>
          <p:nvPr/>
        </p:nvSpPr>
        <p:spPr>
          <a:xfrm>
            <a:off x="548640" y="5440680"/>
            <a:ext cx="4846320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/>
        </p:spPr>
      </p:sp>
      <p:sp>
        <p:nvSpPr>
          <p:cNvPr id="16" name="honesty note text"/>
          <p:cNvSpPr txBox="1"/>
          <p:nvPr/>
        </p:nvSpPr>
        <p:spPr>
          <a:xfrm>
            <a:off x="685800" y="54406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AWS account: CI runs it on LocalStack. The plan includes EKS; apply and destroy skip EKS (LocalStack Pro only).</a:t>
            </a:r>
            <a:endParaRPr lang="en-US" sz="1400" dirty="0"/>
          </a:p>
        </p:txBody>
      </p:sp>
      <p:sp>
        <p:nvSpPr>
          <p:cNvPr id="17" name="terraform plan output frame"/>
          <p:cNvSpPr/>
          <p:nvPr/>
        </p:nvSpPr>
        <p:spPr>
          <a:xfrm>
            <a:off x="5769864" y="1335024"/>
            <a:ext cx="5879592" cy="3328416"/>
          </a:xfrm>
          <a:prstGeom prst="rect">
            <a:avLst/>
          </a:prstGeom>
          <a:solidFill>
            <a:schemeClr val="accent6"/>
          </a:solidFill>
          <a:ln/>
          <a:effectLst>
            <a:outerShdw sx="100000" sy="100000" kx="0" ky="0" algn="bl" rotWithShape="0" blurRad="76200" dist="25400" dir="5400000">
              <a:srgbClr val="101828">
                <a:alpha val="18000"/>
              </a:srgbClr>
            </a:outerShdw>
          </a:effectLst>
        </p:spPr>
      </p:sp>
      <p:pic>
        <p:nvPicPr>
          <p:cNvPr id="18" name="terraform plan output" descr="terraform plan outp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371600"/>
            <a:ext cx="5806440" cy="3255264"/>
          </a:xfrm>
          <a:prstGeom prst="rect">
            <a:avLst/>
          </a:prstGeom>
        </p:spPr>
      </p:pic>
      <p:sp>
        <p:nvSpPr>
          <p:cNvPr id="19" name="caption"/>
          <p:cNvSpPr txBox="1"/>
          <p:nvPr/>
        </p:nvSpPr>
        <p:spPr>
          <a:xfrm>
            <a:off x="5806440" y="4754880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terraform plan -var enable_eks=true → Plan: 38 to add (EKS cluster + node group included)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Kubernetes + Helm</a:t>
            </a:r>
            <a:endParaRPr lang="en-US" sz="3400" dirty="0"/>
          </a:p>
        </p:txBody>
      </p:sp>
      <p:sp>
        <p:nvSpPr>
          <p:cNvPr id="3" name="k8s objects list"/>
          <p:cNvSpPr txBox="1"/>
          <p:nvPr/>
        </p:nvSpPr>
        <p:spPr>
          <a:xfrm>
            <a:off x="548640" y="137160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Namespace incidentdesk (k8s/namespace.yaml)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Backend + frontend Deployments, 2 replicas each, zero-downtime rolling updates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Probes: startup and liveness /health, readiness /ready (database)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PostgreSQL StatefulSet with a PVC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ClusterIP Services; Ingress routes / to the frontend and /api to the backend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HPA 2–5 pods at 60% CPU, PodDisruptionBudget</a:t>
            </a:r>
            <a:endParaRPr lang="en-US" sz="1500" dirty="0"/>
          </a:p>
        </p:txBody>
      </p:sp>
      <p:sp>
        <p:nvSpPr>
          <p:cNvPr id="4" name="helm command"/>
          <p:cNvSpPr/>
          <p:nvPr/>
        </p:nvSpPr>
        <p:spPr>
          <a:xfrm>
            <a:off x="548640" y="4754880"/>
            <a:ext cx="411480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</p:sp>
      <p:sp>
        <p:nvSpPr>
          <p:cNvPr id="5" name="helm command text"/>
          <p:cNvSpPr txBox="1"/>
          <p:nvPr/>
        </p:nvSpPr>
        <p:spPr>
          <a:xfrm>
            <a:off x="685800" y="475488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upgrade --install incidentdesk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./helm/incidentdesk -n incidentdesk</a:t>
            </a:r>
            <a:endParaRPr lang="en-US" sz="1300" dirty="0"/>
          </a:p>
        </p:txBody>
      </p:sp>
      <p:sp>
        <p:nvSpPr>
          <p:cNvPr id="6" name="kubectl get output frame"/>
          <p:cNvSpPr/>
          <p:nvPr/>
        </p:nvSpPr>
        <p:spPr>
          <a:xfrm>
            <a:off x="4992624" y="1335024"/>
            <a:ext cx="6656832" cy="2843784"/>
          </a:xfrm>
          <a:prstGeom prst="rect">
            <a:avLst/>
          </a:prstGeom>
          <a:solidFill>
            <a:schemeClr val="accent6"/>
          </a:solidFill>
          <a:ln/>
          <a:effectLst>
            <a:outerShdw sx="100000" sy="100000" kx="0" ky="0" algn="bl" rotWithShape="0" blurRad="76200" dist="25400" dir="5400000">
              <a:srgbClr val="101828">
                <a:alpha val="18000"/>
              </a:srgbClr>
            </a:outerShdw>
          </a:effectLst>
        </p:spPr>
      </p:sp>
      <p:pic>
        <p:nvPicPr>
          <p:cNvPr id="7" name="kubectl get output" descr="kubectl get outp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371600"/>
            <a:ext cx="6583680" cy="2770632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5029200" y="42519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Every pod Running · HPA at 5/5 under load · release deployed (helm list)</a:t>
            </a:r>
            <a:endParaRPr lang="en-US" sz="1100" dirty="0"/>
          </a:p>
        </p:txBody>
      </p:sp>
      <p:sp>
        <p:nvSpPr>
          <p:cNvPr id="9" name="Argo CD card"/>
          <p:cNvSpPr/>
          <p:nvPr/>
        </p:nvSpPr>
        <p:spPr>
          <a:xfrm>
            <a:off x="5029200" y="4754880"/>
            <a:ext cx="65836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0" name="Argo CD badge"/>
          <p:cNvSpPr/>
          <p:nvPr/>
        </p:nvSpPr>
        <p:spPr>
          <a:xfrm>
            <a:off x="5257800" y="51206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Argo CD badge label"/>
          <p:cNvSpPr txBox="1"/>
          <p:nvPr/>
        </p:nvSpPr>
        <p:spPr>
          <a:xfrm>
            <a:off x="5257800" y="5120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GO</a:t>
            </a:r>
            <a:endParaRPr lang="en-US" sz="1800" dirty="0"/>
          </a:p>
        </p:txBody>
      </p:sp>
      <p:sp>
        <p:nvSpPr>
          <p:cNvPr id="12" name="Argo CD text"/>
          <p:cNvSpPr txBox="1"/>
          <p:nvPr/>
        </p:nvSpPr>
        <p:spPr>
          <a:xfrm>
            <a:off x="6035040" y="484632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GitOps with Argo CD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same chart synced from Git into incidentdesk-gitops: Healthy, 5/5 pods Running, auto-sync, prune and self-heal 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Observability: metrics to dashboard</a:t>
            </a:r>
            <a:endParaRPr lang="en-US" sz="3400" dirty="0"/>
          </a:p>
        </p:txBody>
      </p:sp>
      <p:sp>
        <p:nvSpPr>
          <p:cNvPr id="3" name="/metrics card"/>
          <p:cNvSpPr/>
          <p:nvPr/>
        </p:nvSpPr>
        <p:spPr>
          <a:xfrm>
            <a:off x="548640" y="1371600"/>
            <a:ext cx="4206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4" name="/metrics badge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/metrics badge label"/>
          <p:cNvSpPr txBox="1"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/metrics text"/>
          <p:cNvSpPr txBox="1"/>
          <p:nvPr/>
        </p:nvSpPr>
        <p:spPr>
          <a:xfrm>
            <a:off x="1371600" y="150876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/metrics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requests, latency per route, incidents created</a:t>
            </a:r>
            <a:endParaRPr lang="en-US" sz="1800" dirty="0"/>
          </a:p>
        </p:txBody>
      </p:sp>
      <p:sp>
        <p:nvSpPr>
          <p:cNvPr id="7" name="Prometheus card"/>
          <p:cNvSpPr/>
          <p:nvPr/>
        </p:nvSpPr>
        <p:spPr>
          <a:xfrm>
            <a:off x="548640" y="2788920"/>
            <a:ext cx="4206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8" name="Prometheus badge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metheus badge label"/>
          <p:cNvSpPr txBox="1"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Prometheus text"/>
          <p:cNvSpPr txBox="1"/>
          <p:nvPr/>
        </p:nvSpPr>
        <p:spPr>
          <a:xfrm>
            <a:off x="1371600" y="29260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Prometheus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scrapes annotated pods + kube-state-metrics; 6 alert rules</a:t>
            </a:r>
            <a:endParaRPr lang="en-US" sz="1800" dirty="0"/>
          </a:p>
        </p:txBody>
      </p:sp>
      <p:sp>
        <p:nvSpPr>
          <p:cNvPr id="11" name="Grafana card"/>
          <p:cNvSpPr/>
          <p:nvPr/>
        </p:nvSpPr>
        <p:spPr>
          <a:xfrm>
            <a:off x="548640" y="4206240"/>
            <a:ext cx="4206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2" name="Grafana badge"/>
          <p:cNvSpPr/>
          <p:nvPr/>
        </p:nvSpPr>
        <p:spPr>
          <a:xfrm>
            <a:off x="731520" y="4434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Grafana badge label"/>
          <p:cNvSpPr txBox="1"/>
          <p:nvPr/>
        </p:nvSpPr>
        <p:spPr>
          <a:xfrm>
            <a:off x="73152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Grafana text"/>
          <p:cNvSpPr txBox="1"/>
          <p:nvPr/>
        </p:nvSpPr>
        <p:spPr>
          <a:xfrm>
            <a:off x="1371600" y="43434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Grafana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golden-signals dashboard provisioned from code</a:t>
            </a:r>
            <a:endParaRPr lang="en-US" sz="1800" dirty="0"/>
          </a:p>
        </p:txBody>
      </p:sp>
      <p:sp>
        <p:nvSpPr>
          <p:cNvPr id="15" name="metrics and PromQL output frame"/>
          <p:cNvSpPr/>
          <p:nvPr/>
        </p:nvSpPr>
        <p:spPr>
          <a:xfrm>
            <a:off x="5129784" y="1335024"/>
            <a:ext cx="6519672" cy="2944368"/>
          </a:xfrm>
          <a:prstGeom prst="rect">
            <a:avLst/>
          </a:prstGeom>
          <a:solidFill>
            <a:schemeClr val="accent6"/>
          </a:solidFill>
          <a:ln/>
          <a:effectLst>
            <a:outerShdw sx="100000" sy="100000" kx="0" ky="0" algn="bl" rotWithShape="0" blurRad="76200" dist="25400" dir="5400000">
              <a:srgbClr val="101828">
                <a:alpha val="18000"/>
              </a:srgbClr>
            </a:outerShdw>
          </a:effectLst>
        </p:spPr>
      </p:sp>
      <p:pic>
        <p:nvPicPr>
          <p:cNvPr id="16" name="metrics and PromQL output" descr="metrics and PromQL outp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371600"/>
            <a:ext cx="6446520" cy="2871216"/>
          </a:xfrm>
          <a:prstGeom prst="rect">
            <a:avLst/>
          </a:prstGeom>
        </p:spPr>
      </p:pic>
      <p:sp>
        <p:nvSpPr>
          <p:cNvPr id="17" name="observability notes"/>
          <p:cNvSpPr txBox="1"/>
          <p:nvPr/>
        </p:nvSpPr>
        <p:spPr>
          <a:xfrm>
            <a:off x="5166360" y="4480560"/>
            <a:ext cx="6446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backend pod is up = 1, with live request rates per route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Grafana API: healthy, and the IncidentDesk dashboard is provisioned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Alerts: backend down, pod not ready, restarts, 5xx ratio, p95 latency, HPA at max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Troubleshooting lab</a:t>
            </a:r>
            <a:endParaRPr lang="en-US" sz="3400" dirty="0"/>
          </a:p>
        </p:txBody>
      </p:sp>
      <p:graphicFrame>
        <p:nvGraphicFramePr>
          <p:cNvPr id="12" name="troubleshootin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  <a:gridCol w="3017520"/>
                <a:gridCol w="2743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Break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Symptom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How to find it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Fix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Image tag that doesn't exist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ErrImagePull → ImagePullBackOff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kubectl describe pod, get events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set image to the CI commit SHA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Service selector typo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Service has no endpoints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get endpoints, get pods --show-labels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make the selector match the pod labels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Wrong readiness path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pods 0/1 Ready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describe pod: probe events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point readiness at /ready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HPA without requests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targets &lt;unknown&gt;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describe hpa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set CPU requests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Hand edit in the cluster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drift from Git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Argo CD diff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self-heal or git revert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lab note"/>
          <p:cNvSpPr/>
          <p:nvPr/>
        </p:nvSpPr>
        <p:spPr>
          <a:xfrm>
            <a:off x="548640" y="5029200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accent5"/>
          </a:solidFill>
          <a:ln/>
        </p:spPr>
      </p:sp>
      <p:sp>
        <p:nvSpPr>
          <p:cNvPr id="5" name="lab note text"/>
          <p:cNvSpPr txBox="1"/>
          <p:nvPr/>
        </p:nvSpPr>
        <p:spPr>
          <a:xfrm>
            <a:off x="731520" y="502920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The first two labs run automatically on every deploy in CI: break it, observe the symptom, diagnose, fix (demo/evidence/troubleshooting.txt).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Known limitations, stated plainly</a:t>
            </a:r>
            <a:endParaRPr lang="en-US" sz="3400" dirty="0"/>
          </a:p>
        </p:txBody>
      </p:sp>
      <p:sp>
        <p:nvSpPr>
          <p:cNvPr id="3" name="No AWS account card"/>
          <p:cNvSpPr/>
          <p:nvPr/>
        </p:nvSpPr>
        <p:spPr>
          <a:xfrm>
            <a:off x="548640" y="1417320"/>
            <a:ext cx="3520440" cy="402336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4" name="No AWS account badge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No AWS account badge label"/>
          <p:cNvSpPr txBox="1"/>
          <p:nvPr/>
        </p:nvSpPr>
        <p:spPr>
          <a:xfrm>
            <a:off x="8229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6" name="No AWS account heading"/>
          <p:cNvSpPr txBox="1"/>
          <p:nvPr/>
        </p:nvSpPr>
        <p:spPr>
          <a:xfrm>
            <a:off x="822960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No AWS account</a:t>
            </a:r>
            <a:endParaRPr lang="en-US" sz="1900" dirty="0"/>
          </a:p>
        </p:txBody>
      </p:sp>
      <p:sp>
        <p:nvSpPr>
          <p:cNvPr id="7" name="No AWS account body"/>
          <p:cNvSpPr txBox="1"/>
          <p:nvPr/>
        </p:nvSpPr>
        <p:spPr>
          <a:xfrm>
            <a:off x="822960" y="29260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Terraform targets real AWS, but ran on LocalStack. EKS is in the plan and was not created, so there is no AWS Console screenshot.</a:t>
            </a:r>
            <a:endParaRPr lang="en-US" sz="1500" dirty="0"/>
          </a:p>
        </p:txBody>
      </p:sp>
      <p:sp>
        <p:nvSpPr>
          <p:cNvPr id="8" name="Monitoring UI screenshots card"/>
          <p:cNvSpPr/>
          <p:nvPr/>
        </p:nvSpPr>
        <p:spPr>
          <a:xfrm>
            <a:off x="4297680" y="1417320"/>
            <a:ext cx="3520440" cy="402336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9" name="Monitoring UI screenshots badge"/>
          <p:cNvSpPr/>
          <p:nvPr/>
        </p:nvSpPr>
        <p:spPr>
          <a:xfrm>
            <a:off x="457200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Monitoring UI screenshots badge label"/>
          <p:cNvSpPr txBox="1"/>
          <p:nvPr/>
        </p:nvSpPr>
        <p:spPr>
          <a:xfrm>
            <a:off x="45720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11" name="Monitoring UI screenshots heading"/>
          <p:cNvSpPr txBox="1"/>
          <p:nvPr/>
        </p:nvSpPr>
        <p:spPr>
          <a:xfrm>
            <a:off x="4572000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Monitoring UI screenshots</a:t>
            </a:r>
            <a:endParaRPr lang="en-US" sz="1900" dirty="0"/>
          </a:p>
        </p:txBody>
      </p:sp>
      <p:sp>
        <p:nvSpPr>
          <p:cNvPr id="12" name="Monitoring UI screenshots body"/>
          <p:cNvSpPr txBox="1"/>
          <p:nvPr/>
        </p:nvSpPr>
        <p:spPr>
          <a:xfrm>
            <a:off x="4572000" y="29260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Prometheus and Grafana web UIs did not render in headless Chromium in CI. The Prometheus and Grafana APIs prove targets UP and the dashboard provisioned.</a:t>
            </a:r>
            <a:endParaRPr lang="en-US" sz="1500" dirty="0"/>
          </a:p>
        </p:txBody>
      </p:sp>
      <p:sp>
        <p:nvSpPr>
          <p:cNvPr id="13" name="Argo CD sync status card"/>
          <p:cNvSpPr/>
          <p:nvPr/>
        </p:nvSpPr>
        <p:spPr>
          <a:xfrm>
            <a:off x="8046720" y="1417320"/>
            <a:ext cx="3520440" cy="402336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14" name="Argo CD sync status badge"/>
          <p:cNvSpPr/>
          <p:nvPr/>
        </p:nvSpPr>
        <p:spPr>
          <a:xfrm>
            <a:off x="832104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Argo CD sync status badge label"/>
          <p:cNvSpPr txBox="1"/>
          <p:nvPr/>
        </p:nvSpPr>
        <p:spPr>
          <a:xfrm>
            <a:off x="83210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16" name="Argo CD sync status heading"/>
          <p:cNvSpPr txBox="1"/>
          <p:nvPr/>
        </p:nvSpPr>
        <p:spPr>
          <a:xfrm>
            <a:off x="8321040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Argo CD sync status</a:t>
            </a:r>
            <a:endParaRPr lang="en-US" sz="1900" dirty="0"/>
          </a:p>
        </p:txBody>
      </p:sp>
      <p:sp>
        <p:nvSpPr>
          <p:cNvPr id="17" name="Argo CD sync status body"/>
          <p:cNvSpPr txBox="1"/>
          <p:nvPr/>
        </p:nvSpPr>
        <p:spPr>
          <a:xfrm>
            <a:off x="8321040" y="29260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Argo CD deployed the chart (Healthy, 5/5 pods Running), but sync settled on Unknown and the self-heal test did not recreate the Service in 90 s.</a:t>
            </a:r>
            <a:endParaRPr lang="en-US" sz="1500" dirty="0"/>
          </a:p>
        </p:txBody>
      </p:sp>
      <p:sp>
        <p:nvSpPr>
          <p:cNvPr id="18" name="kind note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Kubernetes ran in a kind cluster inside the CI runner; the same Helm chart targets EKS.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Key learnings</a:t>
            </a:r>
            <a:endParaRPr lang="en-US" sz="4400" dirty="0"/>
          </a:p>
        </p:txBody>
      </p:sp>
      <p:sp>
        <p:nvSpPr>
          <p:cNvPr id="3" name="learnings column 1"/>
          <p:cNvSpPr txBox="1"/>
          <p:nvPr/>
        </p:nvSpPr>
        <p:spPr>
          <a:xfrm>
            <a:off x="731520" y="201168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Gates belong before the registry: tests and the scanner decide what is allowed to exist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Liveness ≠ readiness: /ready checks the database, so traffic only reaches pods that can serve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SHA tags beat latest: a rollback means picking a commit</a:t>
            </a:r>
            <a:endParaRPr lang="en-US" sz="1900" dirty="0"/>
          </a:p>
        </p:txBody>
      </p:sp>
      <p:sp>
        <p:nvSpPr>
          <p:cNvPr id="4" name="learnings column 2"/>
          <p:cNvSpPr txBox="1"/>
          <p:nvPr/>
        </p:nvSpPr>
        <p:spPr>
          <a:xfrm>
            <a:off x="6217920" y="201168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A Service is only labels; most "network" bugs are selector bugs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HPA needs requests and a metrics provider; an Ingress needs a controller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Declare everything: Terraform, Helm, dashboards, so a rebuild looks identical</a:t>
            </a:r>
            <a:endParaRPr lang="en-US" sz="1900" dirty="0"/>
          </a:p>
        </p:txBody>
      </p:sp>
      <p:sp>
        <p:nvSpPr>
          <p:cNvPr id="5" name="thank you"/>
          <p:cNvSpPr txBox="1"/>
          <p:nvPr/>
        </p:nvSpPr>
        <p:spPr>
          <a:xfrm>
            <a:off x="731520" y="55778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cidentDesk">
  <a:themeElements>
    <a:clrScheme name="IncidentDesk">
      <a:dk1>
        <a:srgbClr val="1D2939"/>
      </a:dk1>
      <a:lt1>
        <a:srgbClr val="FFFFFF"/>
      </a:lt1>
      <a:dk2>
        <a:srgbClr val="101828"/>
      </a:dk2>
      <a:lt2>
        <a:srgbClr val="F2F4F7"/>
      </a:lt2>
      <a:accent1>
        <a:srgbClr val="E8590C"/>
      </a:accent1>
      <a:accent2>
        <a:srgbClr val="2F9E44"/>
      </a:accent2>
      <a:accent3>
        <a:srgbClr val="1C7ED6"/>
      </a:accent3>
      <a:accent4>
        <a:srgbClr val="667085"/>
      </a:accent4>
      <a:accent5>
        <a:srgbClr val="FDE7DA"/>
      </a:accent5>
      <a:accent6>
        <a:srgbClr val="D0D5DD"/>
      </a:accent6>
      <a:hlink>
        <a:srgbClr val="1C7ED6"/>
      </a:hlink>
      <a:folHlink>
        <a:srgbClr val="6941C6"/>
      </a:folHlink>
    </a:clrScheme>
    <a:fontScheme name="IncidentDes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IncidentDesk — DevOps Final Capstone</dc:title>
  <dc:subject>PptxGenJS Presentation</dc:subject>
  <dc:creator>BinaryBhakti</dc:creator>
  <cp:lastModifiedBy>BinaryBhakti</cp:lastModifiedBy>
  <cp:revision>1</cp:revision>
  <dcterms:created xsi:type="dcterms:W3CDTF">2026-10-16T18:19:36Z</dcterms:created>
  <dcterms:modified xsi:type="dcterms:W3CDTF">2026-10-16T18:19:36Z</dcterms:modified>
</cp:coreProperties>
</file>